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13"/>
  </p:notesMasterIdLst>
  <p:sldIdLst>
    <p:sldId id="256" r:id="rId2"/>
    <p:sldId id="257" r:id="rId3"/>
    <p:sldId id="265" r:id="rId4"/>
    <p:sldId id="258" r:id="rId5"/>
    <p:sldId id="259" r:id="rId6"/>
    <p:sldId id="260" r:id="rId7"/>
    <p:sldId id="261" r:id="rId8"/>
    <p:sldId id="262" r:id="rId9"/>
    <p:sldId id="263" r:id="rId10"/>
    <p:sldId id="264"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4FD221-02A4-42C4-9EC1-E52896EF453C}" type="datetimeFigureOut">
              <a:rPr lang="en-GB" smtClean="0"/>
              <a:t>15/11/2025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41337C-D067-4B1D-87FF-7790B3512F0D}" type="slidenum">
              <a:rPr lang="en-GB" smtClean="0"/>
              <a:t>‹#›</a:t>
            </a:fld>
            <a:endParaRPr lang="en-GB"/>
          </a:p>
        </p:txBody>
      </p:sp>
    </p:spTree>
    <p:extLst>
      <p:ext uri="{BB962C8B-B14F-4D97-AF65-F5344CB8AC3E}">
        <p14:creationId xmlns:p14="http://schemas.microsoft.com/office/powerpoint/2010/main" val="3440019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741337C-D067-4B1D-87FF-7790B3512F0D}" type="slidenum">
              <a:rPr lang="en-GB" smtClean="0"/>
              <a:t>3</a:t>
            </a:fld>
            <a:endParaRPr lang="en-GB"/>
          </a:p>
        </p:txBody>
      </p:sp>
    </p:spTree>
    <p:extLst>
      <p:ext uri="{BB962C8B-B14F-4D97-AF65-F5344CB8AC3E}">
        <p14:creationId xmlns:p14="http://schemas.microsoft.com/office/powerpoint/2010/main" val="8280215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6444479B-705B-4489-957E-7E8A228BDFA0}" type="datetime1">
              <a:rPr lang="en-US" smtClean="0"/>
              <a:t>11/14/2025</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27506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43839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F9504452-5DCC-4FE2-A5C9-8A5EF6714D65}" type="datetime1">
              <a:rPr lang="en-US" smtClean="0"/>
              <a:t>11/14/2025</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97131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11/14/2025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63534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11/14/2025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7579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11/14/2025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02555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11/14/2025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03761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11/14/2025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57473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11/14/2025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52243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11/14/2025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1586073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DA38F49-B3E2-4BF0-BEC7-C30D34ABBB8D}" type="datetime1">
              <a:rPr lang="en-US" smtClean="0"/>
              <a:t>11/14/2025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231024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DA38F49-B3E2-4BF0-BEC7-C30D34ABBB8D}" type="datetime1">
              <a:rPr lang="en-US" smtClean="0"/>
              <a:t>11/14/2025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70C12960-6E85-460F-B6E3-5B82CB31AF3D}"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4756108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7DA38F49-B3E2-4BF0-BEC7-C30D34ABBB8D}" type="datetime1">
              <a:rPr lang="en-US" smtClean="0"/>
              <a:t>11/14/2025</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8658053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11/14/2025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033666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11/14/2025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3676018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11/14/2025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52567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05B95027-4255-49E7-9841-CD21BCC99996}" type="datetime1">
              <a:rPr lang="en-US" smtClean="0"/>
              <a:t>11/14/2025</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41388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DA38F49-B3E2-4BF0-BEC7-C30D34ABBB8D}" type="datetime1">
              <a:rPr lang="en-US" smtClean="0"/>
              <a:t>11/14/2025</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1373668704"/>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hyperlink" Target="https://github.com/Miruna1208/Logo_Similarity/tree/main" TargetMode="Externa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hyperlink" Target="https://apiumhub.com/tech-blog-barcelona/introduction-perceptual-hashes-measuring-similarity/" TargetMode="Externa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python/beautifulsoup-scraping-link-from-html/" TargetMode="External"/><Relationship Id="rId2" Type="http://schemas.openxmlformats.org/officeDocument/2006/relationships/hyperlink" Target="https://apiumhub.com/tech-blog-barcelona/introduction-perceptual-hashes-measuring-similarity/" TargetMode="External"/><Relationship Id="rId1" Type="http://schemas.openxmlformats.org/officeDocument/2006/relationships/slideLayout" Target="../slideLayouts/slideLayout3.xml"/><Relationship Id="rId5" Type="http://schemas.openxmlformats.org/officeDocument/2006/relationships/hyperlink" Target="https://blog.devgenius.io/svg-to-png-from-vector-to-pixel-perfect-f4d496b9ad6d" TargetMode="External"/><Relationship Id="rId4" Type="http://schemas.openxmlformats.org/officeDocument/2006/relationships/hyperlink" Target="https://www.brand.dev/blog/a-developers-guide-to-scraping-logos-from-websit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3730-2041-68BC-DEB7-0C426F77C37C}"/>
              </a:ext>
            </a:extLst>
          </p:cNvPr>
          <p:cNvSpPr>
            <a:spLocks noGrp="1"/>
          </p:cNvSpPr>
          <p:nvPr>
            <p:ph type="ctrTitle"/>
          </p:nvPr>
        </p:nvSpPr>
        <p:spPr/>
        <p:txBody>
          <a:bodyPr/>
          <a:lstStyle/>
          <a:p>
            <a:r>
              <a:rPr lang="en-GB" dirty="0"/>
              <a:t>Logo similarity</a:t>
            </a:r>
          </a:p>
        </p:txBody>
      </p:sp>
      <p:sp>
        <p:nvSpPr>
          <p:cNvPr id="3" name="Subtitle 2">
            <a:extLst>
              <a:ext uri="{FF2B5EF4-FFF2-40B4-BE49-F238E27FC236}">
                <a16:creationId xmlns:a16="http://schemas.microsoft.com/office/drawing/2014/main" id="{C54D7756-643B-74B5-9C71-DDE1082D8B3F}"/>
              </a:ext>
            </a:extLst>
          </p:cNvPr>
          <p:cNvSpPr>
            <a:spLocks noGrp="1"/>
          </p:cNvSpPr>
          <p:nvPr>
            <p:ph type="subTitle" idx="1"/>
          </p:nvPr>
        </p:nvSpPr>
        <p:spPr>
          <a:xfrm>
            <a:off x="1371600" y="3632200"/>
            <a:ext cx="9448800" cy="1143007"/>
          </a:xfrm>
        </p:spPr>
        <p:txBody>
          <a:bodyPr>
            <a:normAutofit lnSpcReduction="10000"/>
          </a:bodyPr>
          <a:lstStyle/>
          <a:p>
            <a:r>
              <a:rPr lang="en-GB" dirty="0"/>
              <a:t>Author: Stanescu Miruna-Ioana</a:t>
            </a:r>
          </a:p>
          <a:p>
            <a:r>
              <a:rPr lang="en-GB" dirty="0"/>
              <a:t>Date: 14.11.2025</a:t>
            </a:r>
          </a:p>
          <a:p>
            <a:r>
              <a:rPr lang="en-GB" dirty="0"/>
              <a:t>GitHub: </a:t>
            </a:r>
            <a:r>
              <a:rPr lang="en-GB" dirty="0">
                <a:hlinkClick r:id="rId2"/>
              </a:rPr>
              <a:t>Miruna1208</a:t>
            </a:r>
            <a:endParaRPr lang="en-GB" dirty="0"/>
          </a:p>
        </p:txBody>
      </p:sp>
      <p:pic>
        <p:nvPicPr>
          <p:cNvPr id="5" name="Picture 4" descr="A silver logo on a black background&#10;&#10;AI-generated content may be incorrect.">
            <a:extLst>
              <a:ext uri="{FF2B5EF4-FFF2-40B4-BE49-F238E27FC236}">
                <a16:creationId xmlns:a16="http://schemas.microsoft.com/office/drawing/2014/main" id="{B9746715-51B0-6348-26F3-417BF9373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9541" y="908433"/>
            <a:ext cx="988144" cy="988144"/>
          </a:xfrm>
          <a:prstGeom prst="rect">
            <a:avLst/>
          </a:prstGeom>
        </p:spPr>
      </p:pic>
      <p:pic>
        <p:nvPicPr>
          <p:cNvPr id="7" name="Picture 6">
            <a:extLst>
              <a:ext uri="{FF2B5EF4-FFF2-40B4-BE49-F238E27FC236}">
                <a16:creationId xmlns:a16="http://schemas.microsoft.com/office/drawing/2014/main" id="{0C149DF0-AA89-E4B2-F6A7-B6C24937E7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0713" y="1373185"/>
            <a:ext cx="813200" cy="813200"/>
          </a:xfrm>
          <a:prstGeom prst="rect">
            <a:avLst/>
          </a:prstGeom>
        </p:spPr>
      </p:pic>
      <p:pic>
        <p:nvPicPr>
          <p:cNvPr id="13" name="Picture 12" descr="A cartoon bee with a black background&#10;&#10;AI-generated content may be incorrect.">
            <a:extLst>
              <a:ext uri="{FF2B5EF4-FFF2-40B4-BE49-F238E27FC236}">
                <a16:creationId xmlns:a16="http://schemas.microsoft.com/office/drawing/2014/main" id="{B3979F2F-B052-7CB4-AF3D-05F62FFFE1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2200" y="3225799"/>
            <a:ext cx="1219200" cy="971550"/>
          </a:xfrm>
          <a:prstGeom prst="rect">
            <a:avLst/>
          </a:prstGeom>
        </p:spPr>
      </p:pic>
      <p:pic>
        <p:nvPicPr>
          <p:cNvPr id="15" name="Picture 14">
            <a:extLst>
              <a:ext uri="{FF2B5EF4-FFF2-40B4-BE49-F238E27FC236}">
                <a16:creationId xmlns:a16="http://schemas.microsoft.com/office/drawing/2014/main" id="{6403C97F-56D8-0796-895F-4EBB2186BE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20661" y="2058633"/>
            <a:ext cx="609600" cy="609600"/>
          </a:xfrm>
          <a:prstGeom prst="rect">
            <a:avLst/>
          </a:prstGeom>
        </p:spPr>
      </p:pic>
      <p:pic>
        <p:nvPicPr>
          <p:cNvPr id="17" name="Picture 16" descr="A logo of a penguin&#10;&#10;AI-generated content may be incorrect.">
            <a:extLst>
              <a:ext uri="{FF2B5EF4-FFF2-40B4-BE49-F238E27FC236}">
                <a16:creationId xmlns:a16="http://schemas.microsoft.com/office/drawing/2014/main" id="{CBCDEBA3-3D8B-F52D-8A7F-8B928A3CFC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15600" y="2743214"/>
            <a:ext cx="609600" cy="609600"/>
          </a:xfrm>
          <a:prstGeom prst="rect">
            <a:avLst/>
          </a:prstGeom>
        </p:spPr>
      </p:pic>
    </p:spTree>
    <p:extLst>
      <p:ext uri="{BB962C8B-B14F-4D97-AF65-F5344CB8AC3E}">
        <p14:creationId xmlns:p14="http://schemas.microsoft.com/office/powerpoint/2010/main" val="3426768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61729-24F5-170E-5BB4-51FA9066962E}"/>
              </a:ext>
            </a:extLst>
          </p:cNvPr>
          <p:cNvSpPr>
            <a:spLocks noGrp="1"/>
          </p:cNvSpPr>
          <p:nvPr>
            <p:ph type="title"/>
          </p:nvPr>
        </p:nvSpPr>
        <p:spPr/>
        <p:txBody>
          <a:bodyPr/>
          <a:lstStyle/>
          <a:p>
            <a:r>
              <a:rPr lang="en-GB" dirty="0"/>
              <a:t>Understanding the Problem</a:t>
            </a:r>
          </a:p>
        </p:txBody>
      </p:sp>
      <p:sp>
        <p:nvSpPr>
          <p:cNvPr id="3" name="Content Placeholder 2">
            <a:extLst>
              <a:ext uri="{FF2B5EF4-FFF2-40B4-BE49-F238E27FC236}">
                <a16:creationId xmlns:a16="http://schemas.microsoft.com/office/drawing/2014/main" id="{34A8AB0C-BCDC-6876-BF9C-8A35C058DB99}"/>
              </a:ext>
            </a:extLst>
          </p:cNvPr>
          <p:cNvSpPr>
            <a:spLocks noGrp="1"/>
          </p:cNvSpPr>
          <p:nvPr>
            <p:ph idx="1"/>
          </p:nvPr>
        </p:nvSpPr>
        <p:spPr/>
        <p:txBody>
          <a:bodyPr>
            <a:normAutofit/>
          </a:bodyPr>
          <a:lstStyle/>
          <a:p>
            <a:pPr marL="0" indent="0">
              <a:buNone/>
            </a:pPr>
            <a:r>
              <a:rPr lang="en-GB" sz="1800" dirty="0"/>
              <a:t>Goal: Match and group websites by the similarity of their logos. </a:t>
            </a:r>
          </a:p>
          <a:p>
            <a:r>
              <a:rPr lang="en-GB" sz="1800" dirty="0"/>
              <a:t>Two possible approaches to tackle the problem:</a:t>
            </a:r>
          </a:p>
          <a:p>
            <a:pPr marL="0" indent="0">
              <a:buNone/>
            </a:pPr>
            <a:r>
              <a:rPr lang="en-GB" sz="1800" dirty="0"/>
              <a:t>1. Full Logo Comparison:</a:t>
            </a:r>
          </a:p>
          <a:p>
            <a:pPr marL="0" indent="0">
              <a:buNone/>
            </a:pPr>
            <a:r>
              <a:rPr lang="en-GB" sz="1600" dirty="0"/>
              <a:t>	One approach is to compare all logos and group websites with visually similar ones. This helps detect duplicates across sites and identify potential copycat or fraudulent brands.</a:t>
            </a:r>
          </a:p>
          <a:p>
            <a:pPr marL="0" indent="0">
              <a:buNone/>
            </a:pPr>
            <a:endParaRPr lang="en-GB" sz="1600" dirty="0"/>
          </a:p>
          <a:p>
            <a:pPr marL="0" indent="0">
              <a:buNone/>
            </a:pPr>
            <a:r>
              <a:rPr lang="en-GB" sz="1800" dirty="0"/>
              <a:t>2. Unique Logo Focus:</a:t>
            </a:r>
          </a:p>
          <a:p>
            <a:pPr marL="0" indent="0">
              <a:buNone/>
            </a:pPr>
            <a:r>
              <a:rPr lang="en-GB" sz="1600" dirty="0"/>
              <a:t>	Another approach is to keep only unique logos, identifying which websites have truly distinctive branding. This is useful for </a:t>
            </a:r>
            <a:r>
              <a:rPr lang="en-GB" sz="1600" dirty="0" err="1"/>
              <a:t>analyzing</a:t>
            </a:r>
            <a:r>
              <a:rPr lang="en-GB" sz="1600" dirty="0"/>
              <a:t> originality and uniqueness, showing which companies stand out visually. </a:t>
            </a:r>
          </a:p>
        </p:txBody>
      </p:sp>
    </p:spTree>
    <p:extLst>
      <p:ext uri="{BB962C8B-B14F-4D97-AF65-F5344CB8AC3E}">
        <p14:creationId xmlns:p14="http://schemas.microsoft.com/office/powerpoint/2010/main" val="910375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EA03-CADC-5614-9824-1886EEFFD6D3}"/>
              </a:ext>
            </a:extLst>
          </p:cNvPr>
          <p:cNvSpPr>
            <a:spLocks noGrp="1"/>
          </p:cNvSpPr>
          <p:nvPr>
            <p:ph type="title"/>
          </p:nvPr>
        </p:nvSpPr>
        <p:spPr>
          <a:xfrm>
            <a:off x="491068" y="764373"/>
            <a:ext cx="10007600" cy="1250694"/>
          </a:xfrm>
        </p:spPr>
        <p:txBody>
          <a:bodyPr/>
          <a:lstStyle/>
          <a:p>
            <a:r>
              <a:rPr lang="en-GB" dirty="0"/>
              <a:t>First Approach </a:t>
            </a:r>
          </a:p>
        </p:txBody>
      </p:sp>
      <p:sp>
        <p:nvSpPr>
          <p:cNvPr id="3" name="Content Placeholder 2">
            <a:extLst>
              <a:ext uri="{FF2B5EF4-FFF2-40B4-BE49-F238E27FC236}">
                <a16:creationId xmlns:a16="http://schemas.microsoft.com/office/drawing/2014/main" id="{6F39D98C-AE3D-DD4E-06FA-2FFA3C010E3B}"/>
              </a:ext>
            </a:extLst>
          </p:cNvPr>
          <p:cNvSpPr>
            <a:spLocks noGrp="1"/>
          </p:cNvSpPr>
          <p:nvPr>
            <p:ph idx="1"/>
          </p:nvPr>
        </p:nvSpPr>
        <p:spPr/>
        <p:txBody>
          <a:bodyPr>
            <a:normAutofit/>
          </a:bodyPr>
          <a:lstStyle/>
          <a:p>
            <a:r>
              <a:rPr lang="en-GB" sz="1600" dirty="0"/>
              <a:t>Logos were initially saved based on name similarity, using </a:t>
            </a:r>
            <a:r>
              <a:rPr lang="en-GB" sz="1600" dirty="0" err="1"/>
              <a:t>Levenshtein</a:t>
            </a:r>
            <a:r>
              <a:rPr lang="en-GB" sz="1600" dirty="0"/>
              <a:t> comparison to avoid duplicates.</a:t>
            </a:r>
          </a:p>
          <a:p>
            <a:r>
              <a:rPr lang="en-GB" sz="1600" dirty="0"/>
              <a:t>For each brand, only a single representative logo was kept from the list of multiple websites with the same brand, allowing image-based comparisons to be performed efficiently without redundant data.</a:t>
            </a:r>
          </a:p>
          <a:p>
            <a:r>
              <a:rPr lang="en-GB" sz="1600" dirty="0"/>
              <a:t>While this initial method helped reduce duplicates and organize the dataset for early testing, it was limited in scope. </a:t>
            </a:r>
          </a:p>
          <a:p>
            <a:r>
              <a:rPr lang="en-GB" sz="1600" dirty="0"/>
              <a:t>This approach was eventually abandoned because it was inefficient and could not achieve the main goal without machine learning</a:t>
            </a:r>
          </a:p>
          <a:p>
            <a:r>
              <a:rPr lang="en-GB" sz="1600" dirty="0"/>
              <a:t>It also became clear that after processing, the resulting dataset was very small due to the large number of duplicates in the initial set.</a:t>
            </a:r>
          </a:p>
          <a:p>
            <a:r>
              <a:rPr lang="en-GB" sz="1600" dirty="0"/>
              <a:t>Therefore, the correct approach for this dataset is not clustering purely based on logo appearance, but rather grouping logos to identify potential fraud and repeated brand misuse across different websites.</a:t>
            </a:r>
          </a:p>
        </p:txBody>
      </p:sp>
    </p:spTree>
    <p:extLst>
      <p:ext uri="{BB962C8B-B14F-4D97-AF65-F5344CB8AC3E}">
        <p14:creationId xmlns:p14="http://schemas.microsoft.com/office/powerpoint/2010/main" val="2423801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AA0A4-6A29-8D24-5578-6527B75740C2}"/>
              </a:ext>
            </a:extLst>
          </p:cNvPr>
          <p:cNvSpPr>
            <a:spLocks noGrp="1"/>
          </p:cNvSpPr>
          <p:nvPr>
            <p:ph type="title"/>
          </p:nvPr>
        </p:nvSpPr>
        <p:spPr/>
        <p:txBody>
          <a:bodyPr/>
          <a:lstStyle/>
          <a:p>
            <a:r>
              <a:rPr lang="en-GB" dirty="0"/>
              <a:t>Chosen Approach</a:t>
            </a:r>
          </a:p>
        </p:txBody>
      </p:sp>
      <p:sp>
        <p:nvSpPr>
          <p:cNvPr id="3" name="Content Placeholder 2">
            <a:extLst>
              <a:ext uri="{FF2B5EF4-FFF2-40B4-BE49-F238E27FC236}">
                <a16:creationId xmlns:a16="http://schemas.microsoft.com/office/drawing/2014/main" id="{D3B21240-881F-FE78-CEEE-79179A4A2EEA}"/>
              </a:ext>
            </a:extLst>
          </p:cNvPr>
          <p:cNvSpPr>
            <a:spLocks noGrp="1"/>
          </p:cNvSpPr>
          <p:nvPr>
            <p:ph idx="1"/>
          </p:nvPr>
        </p:nvSpPr>
        <p:spPr/>
        <p:txBody>
          <a:bodyPr/>
          <a:lstStyle/>
          <a:p>
            <a:pPr marL="0" indent="0">
              <a:buNone/>
            </a:pPr>
            <a:r>
              <a:rPr lang="en-GB" dirty="0"/>
              <a:t>Comparing all logos and grouping visually similar ones.</a:t>
            </a:r>
          </a:p>
          <a:p>
            <a:r>
              <a:rPr lang="en-GB" sz="1600" dirty="0"/>
              <a:t>The task explicitly requires a solution without machine learning.</a:t>
            </a:r>
          </a:p>
          <a:p>
            <a:r>
              <a:rPr lang="en-GB" sz="1600" dirty="0"/>
              <a:t>This constraint limits advanced image analysis, so the focus is not on fine-grained differentiation but on reliably extracting logos from the entire website list. </a:t>
            </a:r>
          </a:p>
          <a:p>
            <a:r>
              <a:rPr lang="en-GB" sz="1600" dirty="0"/>
              <a:t>Scope: Detect fraudulent websites:</a:t>
            </a:r>
          </a:p>
        </p:txBody>
      </p:sp>
      <p:pic>
        <p:nvPicPr>
          <p:cNvPr id="5" name="Picture 4">
            <a:extLst>
              <a:ext uri="{FF2B5EF4-FFF2-40B4-BE49-F238E27FC236}">
                <a16:creationId xmlns:a16="http://schemas.microsoft.com/office/drawing/2014/main" id="{E0A19062-2138-B192-BA1B-FF3D3E36F228}"/>
              </a:ext>
            </a:extLst>
          </p:cNvPr>
          <p:cNvPicPr>
            <a:picLocks noChangeAspect="1"/>
          </p:cNvPicPr>
          <p:nvPr/>
        </p:nvPicPr>
        <p:blipFill>
          <a:blip r:embed="rId2"/>
          <a:stretch>
            <a:fillRect/>
          </a:stretch>
        </p:blipFill>
        <p:spPr>
          <a:xfrm>
            <a:off x="2252332" y="4178875"/>
            <a:ext cx="965001" cy="1206252"/>
          </a:xfrm>
          <a:prstGeom prst="rect">
            <a:avLst/>
          </a:prstGeom>
        </p:spPr>
      </p:pic>
      <p:pic>
        <p:nvPicPr>
          <p:cNvPr id="7" name="Picture 6">
            <a:extLst>
              <a:ext uri="{FF2B5EF4-FFF2-40B4-BE49-F238E27FC236}">
                <a16:creationId xmlns:a16="http://schemas.microsoft.com/office/drawing/2014/main" id="{CA062DA8-1F89-9944-214D-C5B23BA38656}"/>
              </a:ext>
            </a:extLst>
          </p:cNvPr>
          <p:cNvPicPr>
            <a:picLocks noChangeAspect="1"/>
          </p:cNvPicPr>
          <p:nvPr/>
        </p:nvPicPr>
        <p:blipFill>
          <a:blip r:embed="rId3"/>
          <a:stretch>
            <a:fillRect/>
          </a:stretch>
        </p:blipFill>
        <p:spPr>
          <a:xfrm>
            <a:off x="7645353" y="4111383"/>
            <a:ext cx="1066892" cy="1341236"/>
          </a:xfrm>
          <a:prstGeom prst="rect">
            <a:avLst/>
          </a:prstGeom>
        </p:spPr>
      </p:pic>
      <p:pic>
        <p:nvPicPr>
          <p:cNvPr id="9" name="Picture 8">
            <a:extLst>
              <a:ext uri="{FF2B5EF4-FFF2-40B4-BE49-F238E27FC236}">
                <a16:creationId xmlns:a16="http://schemas.microsoft.com/office/drawing/2014/main" id="{8AFF58FA-3AD6-2490-469D-3726EA691AC5}"/>
              </a:ext>
            </a:extLst>
          </p:cNvPr>
          <p:cNvPicPr>
            <a:picLocks noChangeAspect="1"/>
          </p:cNvPicPr>
          <p:nvPr/>
        </p:nvPicPr>
        <p:blipFill>
          <a:blip r:embed="rId4"/>
          <a:stretch>
            <a:fillRect/>
          </a:stretch>
        </p:blipFill>
        <p:spPr>
          <a:xfrm>
            <a:off x="4755822" y="4206622"/>
            <a:ext cx="1422204" cy="1116354"/>
          </a:xfrm>
          <a:prstGeom prst="rect">
            <a:avLst/>
          </a:prstGeom>
        </p:spPr>
      </p:pic>
      <p:sp>
        <p:nvSpPr>
          <p:cNvPr id="11" name="TextBox 10">
            <a:extLst>
              <a:ext uri="{FF2B5EF4-FFF2-40B4-BE49-F238E27FC236}">
                <a16:creationId xmlns:a16="http://schemas.microsoft.com/office/drawing/2014/main" id="{0621A384-70C6-4A99-59C2-F54AC88B4CBC}"/>
              </a:ext>
            </a:extLst>
          </p:cNvPr>
          <p:cNvSpPr txBox="1"/>
          <p:nvPr/>
        </p:nvSpPr>
        <p:spPr>
          <a:xfrm>
            <a:off x="1752649" y="5547858"/>
            <a:ext cx="2785533" cy="369332"/>
          </a:xfrm>
          <a:prstGeom prst="rect">
            <a:avLst/>
          </a:prstGeom>
          <a:noFill/>
        </p:spPr>
        <p:txBody>
          <a:bodyPr wrap="square" rtlCol="0">
            <a:spAutoFit/>
          </a:bodyPr>
          <a:lstStyle/>
          <a:p>
            <a:r>
              <a:rPr lang="en-GB" sz="1600" dirty="0">
                <a:highlight>
                  <a:srgbClr val="FF0000"/>
                </a:highlight>
              </a:rPr>
              <a:t>potential</a:t>
            </a:r>
            <a:r>
              <a:rPr lang="en-GB" dirty="0">
                <a:highlight>
                  <a:srgbClr val="FF0000"/>
                </a:highlight>
              </a:rPr>
              <a:t> copycat</a:t>
            </a:r>
          </a:p>
        </p:txBody>
      </p:sp>
    </p:spTree>
    <p:extLst>
      <p:ext uri="{BB962C8B-B14F-4D97-AF65-F5344CB8AC3E}">
        <p14:creationId xmlns:p14="http://schemas.microsoft.com/office/powerpoint/2010/main" val="163305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2838F-949A-82FE-1655-933B8D92DA09}"/>
              </a:ext>
            </a:extLst>
          </p:cNvPr>
          <p:cNvSpPr>
            <a:spLocks noGrp="1"/>
          </p:cNvSpPr>
          <p:nvPr>
            <p:ph type="title"/>
          </p:nvPr>
        </p:nvSpPr>
        <p:spPr>
          <a:xfrm>
            <a:off x="685801" y="753533"/>
            <a:ext cx="6237514" cy="719667"/>
          </a:xfrm>
        </p:spPr>
        <p:txBody>
          <a:bodyPr>
            <a:normAutofit/>
          </a:bodyPr>
          <a:lstStyle/>
          <a:p>
            <a:r>
              <a:rPr lang="en-GB" dirty="0"/>
              <a:t>Technical Workflow</a:t>
            </a:r>
          </a:p>
        </p:txBody>
      </p:sp>
      <p:sp>
        <p:nvSpPr>
          <p:cNvPr id="3" name="Text Placeholder 2">
            <a:extLst>
              <a:ext uri="{FF2B5EF4-FFF2-40B4-BE49-F238E27FC236}">
                <a16:creationId xmlns:a16="http://schemas.microsoft.com/office/drawing/2014/main" id="{0F7C9DE2-9290-997C-1E90-EA3E51A15A9A}"/>
              </a:ext>
            </a:extLst>
          </p:cNvPr>
          <p:cNvSpPr>
            <a:spLocks noGrp="1"/>
          </p:cNvSpPr>
          <p:nvPr>
            <p:ph type="body" idx="1"/>
          </p:nvPr>
        </p:nvSpPr>
        <p:spPr>
          <a:xfrm>
            <a:off x="1024467" y="1724297"/>
            <a:ext cx="10490200" cy="2873103"/>
          </a:xfrm>
        </p:spPr>
        <p:txBody>
          <a:bodyPr>
            <a:normAutofit/>
          </a:bodyPr>
          <a:lstStyle/>
          <a:p>
            <a:pPr marL="285750" indent="-285750" algn="l">
              <a:buFont typeface="Arial" panose="020B0604020202020204" pitchFamily="34" charset="0"/>
              <a:buChar char="•"/>
            </a:pPr>
            <a:r>
              <a:rPr lang="en-GB" sz="1600" dirty="0">
                <a:solidFill>
                  <a:schemeClr val="tx1"/>
                </a:solidFill>
              </a:rPr>
              <a:t>This system follows a structured processing pipeline that transforms raw website URLs into validated logo matches. The architecture combines scraping, preprocessing, and similarity scoring to ensure accurate and consistent results.</a:t>
            </a:r>
          </a:p>
        </p:txBody>
      </p:sp>
      <p:pic>
        <p:nvPicPr>
          <p:cNvPr id="7" name="Picture 6">
            <a:extLst>
              <a:ext uri="{FF2B5EF4-FFF2-40B4-BE49-F238E27FC236}">
                <a16:creationId xmlns:a16="http://schemas.microsoft.com/office/drawing/2014/main" id="{25CCBB65-8156-8B79-FFED-FD568C494C86}"/>
              </a:ext>
            </a:extLst>
          </p:cNvPr>
          <p:cNvPicPr>
            <a:picLocks noChangeAspect="1"/>
          </p:cNvPicPr>
          <p:nvPr/>
        </p:nvPicPr>
        <p:blipFill>
          <a:blip r:embed="rId2"/>
          <a:stretch>
            <a:fillRect/>
          </a:stretch>
        </p:blipFill>
        <p:spPr>
          <a:xfrm>
            <a:off x="1252984" y="2606000"/>
            <a:ext cx="10261683" cy="1286731"/>
          </a:xfrm>
          <a:prstGeom prst="rect">
            <a:avLst/>
          </a:prstGeom>
        </p:spPr>
      </p:pic>
    </p:spTree>
    <p:extLst>
      <p:ext uri="{BB962C8B-B14F-4D97-AF65-F5344CB8AC3E}">
        <p14:creationId xmlns:p14="http://schemas.microsoft.com/office/powerpoint/2010/main" val="2227032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473D0-0379-B612-C247-9795B356E806}"/>
              </a:ext>
            </a:extLst>
          </p:cNvPr>
          <p:cNvSpPr>
            <a:spLocks noGrp="1"/>
          </p:cNvSpPr>
          <p:nvPr>
            <p:ph type="ctrTitle"/>
          </p:nvPr>
        </p:nvSpPr>
        <p:spPr>
          <a:xfrm>
            <a:off x="2621279" y="914400"/>
            <a:ext cx="9135291" cy="862149"/>
          </a:xfrm>
        </p:spPr>
        <p:txBody>
          <a:bodyPr>
            <a:normAutofit fontScale="90000"/>
          </a:bodyPr>
          <a:lstStyle/>
          <a:p>
            <a:r>
              <a:rPr lang="en-GB" sz="4000" dirty="0"/>
              <a:t>Web Scraping &amp; Logo Extraction</a:t>
            </a:r>
          </a:p>
        </p:txBody>
      </p:sp>
      <p:sp>
        <p:nvSpPr>
          <p:cNvPr id="3" name="Subtitle 2">
            <a:extLst>
              <a:ext uri="{FF2B5EF4-FFF2-40B4-BE49-F238E27FC236}">
                <a16:creationId xmlns:a16="http://schemas.microsoft.com/office/drawing/2014/main" id="{D53DC33E-DD0A-B463-15A5-7DF3EE265CF3}"/>
              </a:ext>
            </a:extLst>
          </p:cNvPr>
          <p:cNvSpPr>
            <a:spLocks noGrp="1"/>
          </p:cNvSpPr>
          <p:nvPr>
            <p:ph type="subTitle" idx="1"/>
          </p:nvPr>
        </p:nvSpPr>
        <p:spPr>
          <a:xfrm>
            <a:off x="1371600" y="2090057"/>
            <a:ext cx="9448800" cy="2865120"/>
          </a:xfrm>
        </p:spPr>
        <p:txBody>
          <a:bodyPr>
            <a:normAutofit/>
          </a:bodyPr>
          <a:lstStyle/>
          <a:p>
            <a:r>
              <a:rPr lang="en-GB" sz="1600" dirty="0"/>
              <a:t>This stage retrieves webpages, searches for logo-related assets, and stores successful results or errors in dedicated output files.</a:t>
            </a:r>
          </a:p>
          <a:p>
            <a:pPr marL="285750" indent="-285750">
              <a:buFont typeface="Arial" panose="020B0604020202020204" pitchFamily="34" charset="0"/>
              <a:buChar char="•"/>
            </a:pPr>
            <a:r>
              <a:rPr lang="en-GB" sz="1600" dirty="0"/>
              <a:t>Data source: domain list loaded using PyArrow.</a:t>
            </a:r>
          </a:p>
          <a:p>
            <a:pPr marL="285750" indent="-285750">
              <a:buFont typeface="Arial" panose="020B0604020202020204" pitchFamily="34" charset="0"/>
              <a:buChar char="•"/>
            </a:pPr>
            <a:r>
              <a:rPr lang="en-GB" sz="1600" dirty="0"/>
              <a:t>Fetching phase: HTML content retrieved via HTTP GET with User-Agent header.</a:t>
            </a:r>
          </a:p>
          <a:p>
            <a:pPr marL="285750" indent="-285750">
              <a:buFont typeface="Arial" panose="020B0604020202020204" pitchFamily="34" charset="0"/>
              <a:buChar char="•"/>
            </a:pPr>
            <a:r>
              <a:rPr lang="en-GB" sz="1600" dirty="0"/>
              <a:t>Logo detection: favicons from &lt;link&gt; tags, &lt;</a:t>
            </a:r>
            <a:r>
              <a:rPr lang="en-GB" sz="1600" dirty="0" err="1"/>
              <a:t>img</a:t>
            </a:r>
            <a:r>
              <a:rPr lang="en-GB" sz="1600" dirty="0"/>
              <a:t>&gt; tags filtered by alt/class/id keywords, inline &lt;</a:t>
            </a:r>
            <a:r>
              <a:rPr lang="en-GB" sz="1600" dirty="0" err="1"/>
              <a:t>svg</a:t>
            </a:r>
            <a:r>
              <a:rPr lang="en-GB" sz="1600" dirty="0"/>
              <a:t>&gt; elements, &lt;picture&gt;/&lt;source&gt; tags, and CSS background-image styles are scanned sequentially according to a defined priority.</a:t>
            </a:r>
          </a:p>
          <a:p>
            <a:pPr marL="285750" indent="-285750">
              <a:buFont typeface="Arial" panose="020B0604020202020204" pitchFamily="34" charset="0"/>
              <a:buChar char="•"/>
            </a:pPr>
            <a:r>
              <a:rPr lang="en-GB" sz="1600" dirty="0"/>
              <a:t>Output handling: successful detections appended to good_links.csv; missing or failed extractions recorded in bad_links.csv and persistent failures moved to error_links.csv.</a:t>
            </a:r>
          </a:p>
        </p:txBody>
      </p:sp>
    </p:spTree>
    <p:extLst>
      <p:ext uri="{BB962C8B-B14F-4D97-AF65-F5344CB8AC3E}">
        <p14:creationId xmlns:p14="http://schemas.microsoft.com/office/powerpoint/2010/main" val="1672847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BE6E-F493-CE39-2120-6C6704C46E1C}"/>
              </a:ext>
            </a:extLst>
          </p:cNvPr>
          <p:cNvSpPr>
            <a:spLocks noGrp="1"/>
          </p:cNvSpPr>
          <p:nvPr>
            <p:ph type="ctrTitle"/>
          </p:nvPr>
        </p:nvSpPr>
        <p:spPr>
          <a:xfrm>
            <a:off x="4072466" y="770467"/>
            <a:ext cx="7509933" cy="1041400"/>
          </a:xfrm>
        </p:spPr>
        <p:txBody>
          <a:bodyPr>
            <a:normAutofit/>
          </a:bodyPr>
          <a:lstStyle/>
          <a:p>
            <a:r>
              <a:rPr lang="en-GB" sz="4000" dirty="0"/>
              <a:t>Preprocessing &amp; Analysis</a:t>
            </a:r>
          </a:p>
        </p:txBody>
      </p:sp>
      <p:sp>
        <p:nvSpPr>
          <p:cNvPr id="3" name="Subtitle 2">
            <a:extLst>
              <a:ext uri="{FF2B5EF4-FFF2-40B4-BE49-F238E27FC236}">
                <a16:creationId xmlns:a16="http://schemas.microsoft.com/office/drawing/2014/main" id="{1FC654AA-7BB0-A07A-7061-9979520DFA46}"/>
              </a:ext>
            </a:extLst>
          </p:cNvPr>
          <p:cNvSpPr>
            <a:spLocks noGrp="1"/>
          </p:cNvSpPr>
          <p:nvPr>
            <p:ph type="subTitle" idx="1"/>
          </p:nvPr>
        </p:nvSpPr>
        <p:spPr>
          <a:xfrm>
            <a:off x="1371600" y="2311400"/>
            <a:ext cx="9448800" cy="2455333"/>
          </a:xfrm>
        </p:spPr>
        <p:txBody>
          <a:bodyPr>
            <a:normAutofit/>
          </a:bodyPr>
          <a:lstStyle/>
          <a:p>
            <a:pPr marL="342900" indent="-342900">
              <a:buFont typeface="Arial" panose="020B0604020202020204" pitchFamily="34" charset="0"/>
              <a:buChar char="•"/>
            </a:pPr>
            <a:r>
              <a:rPr lang="en-GB" sz="1600" dirty="0"/>
              <a:t>Extracted images are standardized: SVGs rasterized to PNG, all images converted to RGBA, and saved in the logos/ folder.</a:t>
            </a:r>
          </a:p>
          <a:p>
            <a:pPr marL="342900" indent="-342900">
              <a:buFont typeface="Arial" panose="020B0604020202020204" pitchFamily="34" charset="0"/>
              <a:buChar char="•"/>
            </a:pPr>
            <a:r>
              <a:rPr lang="en-GB" sz="1600" dirty="0"/>
              <a:t>Initial logo extraction achieved ~84% success. By refining heuristics to search for logo-related keywords in &lt;</a:t>
            </a:r>
            <a:r>
              <a:rPr lang="en-GB" sz="1600" dirty="0" err="1"/>
              <a:t>img</a:t>
            </a:r>
            <a:r>
              <a:rPr lang="en-GB" sz="1600" dirty="0"/>
              <a:t>&gt;, &lt;div&gt;, and other container elements, and improving favicon, SVG, and background handling, the success rate increased to over 97%, meeting the project requirement.</a:t>
            </a:r>
          </a:p>
          <a:p>
            <a:pPr marL="342900" indent="-342900">
              <a:buFont typeface="Arial" panose="020B0604020202020204" pitchFamily="34" charset="0"/>
              <a:buChar char="•"/>
            </a:pPr>
            <a:r>
              <a:rPr lang="en-GB" sz="1600" dirty="0"/>
              <a:t>False positives (images that are not logos) are identified and manually removed to improve dataset quality, which was the most efficient approach for the task at that stage.</a:t>
            </a:r>
          </a:p>
        </p:txBody>
      </p:sp>
    </p:spTree>
    <p:extLst>
      <p:ext uri="{BB962C8B-B14F-4D97-AF65-F5344CB8AC3E}">
        <p14:creationId xmlns:p14="http://schemas.microsoft.com/office/powerpoint/2010/main" val="924881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64D43-08AA-BD1E-2542-A832FD3E639B}"/>
              </a:ext>
            </a:extLst>
          </p:cNvPr>
          <p:cNvSpPr>
            <a:spLocks noGrp="1"/>
          </p:cNvSpPr>
          <p:nvPr>
            <p:ph type="title"/>
          </p:nvPr>
        </p:nvSpPr>
        <p:spPr/>
        <p:txBody>
          <a:bodyPr/>
          <a:lstStyle/>
          <a:p>
            <a:r>
              <a:rPr lang="en-GB" dirty="0"/>
              <a:t>Similarity analysis </a:t>
            </a:r>
          </a:p>
        </p:txBody>
      </p:sp>
      <p:sp>
        <p:nvSpPr>
          <p:cNvPr id="3" name="Content Placeholder 2">
            <a:extLst>
              <a:ext uri="{FF2B5EF4-FFF2-40B4-BE49-F238E27FC236}">
                <a16:creationId xmlns:a16="http://schemas.microsoft.com/office/drawing/2014/main" id="{9C708D77-703A-D2BE-E265-BED9B6211A95}"/>
              </a:ext>
            </a:extLst>
          </p:cNvPr>
          <p:cNvSpPr>
            <a:spLocks noGrp="1"/>
          </p:cNvSpPr>
          <p:nvPr>
            <p:ph idx="1"/>
          </p:nvPr>
        </p:nvSpPr>
        <p:spPr>
          <a:xfrm>
            <a:off x="685800" y="2160693"/>
            <a:ext cx="10820400" cy="4214707"/>
          </a:xfrm>
        </p:spPr>
        <p:txBody>
          <a:bodyPr>
            <a:normAutofit/>
          </a:bodyPr>
          <a:lstStyle/>
          <a:p>
            <a:r>
              <a:rPr lang="en-GB" sz="1600" dirty="0"/>
              <a:t>The similarity analysis uses perceptual hashes computed during preprocessing to compare logos.</a:t>
            </a:r>
          </a:p>
          <a:p>
            <a:pPr marL="0" indent="0">
              <a:buNone/>
            </a:pPr>
            <a:r>
              <a:rPr lang="en-GB" sz="1800" dirty="0"/>
              <a:t>How does </a:t>
            </a:r>
            <a:r>
              <a:rPr lang="en-GB" sz="1800" dirty="0" err="1"/>
              <a:t>pHashes</a:t>
            </a:r>
            <a:r>
              <a:rPr lang="en-GB" sz="1800" dirty="0"/>
              <a:t> work?</a:t>
            </a:r>
          </a:p>
          <a:p>
            <a:pPr marL="0" indent="0">
              <a:buNone/>
            </a:pPr>
            <a:endParaRPr lang="en-GB" sz="1600" dirty="0"/>
          </a:p>
          <a:p>
            <a:pPr marL="0" indent="0">
              <a:buNone/>
            </a:pPr>
            <a:endParaRPr lang="en-GB" sz="1600" dirty="0"/>
          </a:p>
          <a:p>
            <a:pPr marL="0" indent="0">
              <a:buNone/>
            </a:pPr>
            <a:endParaRPr lang="en-GB" sz="1600" dirty="0"/>
          </a:p>
          <a:p>
            <a:pPr marL="0" indent="0">
              <a:buNone/>
            </a:pPr>
            <a:endParaRPr lang="en-GB" sz="1600" dirty="0"/>
          </a:p>
          <a:p>
            <a:pPr marL="0" indent="0">
              <a:buNone/>
            </a:pPr>
            <a:endParaRPr lang="en-GB" sz="1600" dirty="0"/>
          </a:p>
          <a:p>
            <a:pPr marL="0" indent="0">
              <a:buNone/>
            </a:pPr>
            <a:r>
              <a:rPr lang="en-GB" sz="1100" dirty="0"/>
              <a:t>           </a:t>
            </a:r>
            <a:r>
              <a:rPr lang="en-GB" sz="1200" dirty="0"/>
              <a:t>1010010010101101100110011011001101100010100100000111011010101110</a:t>
            </a:r>
          </a:p>
          <a:p>
            <a:r>
              <a:rPr lang="en-GB" sz="1600" dirty="0"/>
              <a:t>The </a:t>
            </a:r>
            <a:r>
              <a:rPr lang="en-GB" sz="1600" dirty="0" err="1"/>
              <a:t>pHash</a:t>
            </a:r>
            <a:r>
              <a:rPr lang="en-GB" sz="1600" dirty="0"/>
              <a:t> algorithm converts the image to grayscale, scales it down (e.g., 32×32), and applies a discrete cosine transform (DCT). High-frequency components are cropped to the top-left 8×8 block, the median </a:t>
            </a:r>
            <a:r>
              <a:rPr lang="en-GB" sz="1600" dirty="0" err="1"/>
              <a:t>gray</a:t>
            </a:r>
            <a:r>
              <a:rPr lang="en-GB" sz="1600" dirty="0"/>
              <a:t> value is calculated, and a binary hash is generated to represent the image’s visual features.</a:t>
            </a:r>
          </a:p>
          <a:p>
            <a:pPr marL="0" indent="0">
              <a:buNone/>
            </a:pPr>
            <a:endParaRPr lang="en-GB" sz="1600" dirty="0"/>
          </a:p>
          <a:p>
            <a:pPr marL="0" indent="0">
              <a:buNone/>
            </a:pPr>
            <a:r>
              <a:rPr lang="en-GB" sz="1200" dirty="0"/>
              <a:t>Source: </a:t>
            </a:r>
            <a:r>
              <a:rPr lang="en-GB" sz="1200" dirty="0">
                <a:hlinkClick r:id="rId2"/>
              </a:rPr>
              <a:t>https://apiumhub.com/tech-blog-barcelona/introduction-perceptual-hashes-measuring-similarity/</a:t>
            </a:r>
            <a:endParaRPr lang="en-GB" sz="1200" dirty="0"/>
          </a:p>
          <a:p>
            <a:pPr marL="0" indent="0">
              <a:buNone/>
            </a:pPr>
            <a:endParaRPr lang="en-GB" sz="1200" dirty="0"/>
          </a:p>
        </p:txBody>
      </p:sp>
      <p:pic>
        <p:nvPicPr>
          <p:cNvPr id="5" name="Picture 4">
            <a:extLst>
              <a:ext uri="{FF2B5EF4-FFF2-40B4-BE49-F238E27FC236}">
                <a16:creationId xmlns:a16="http://schemas.microsoft.com/office/drawing/2014/main" id="{EACBC554-F753-D84B-7527-F94881891798}"/>
              </a:ext>
            </a:extLst>
          </p:cNvPr>
          <p:cNvPicPr>
            <a:picLocks noChangeAspect="1"/>
          </p:cNvPicPr>
          <p:nvPr/>
        </p:nvPicPr>
        <p:blipFill>
          <a:blip r:embed="rId3"/>
          <a:stretch>
            <a:fillRect/>
          </a:stretch>
        </p:blipFill>
        <p:spPr>
          <a:xfrm>
            <a:off x="685800" y="2915399"/>
            <a:ext cx="2005460" cy="1515576"/>
          </a:xfrm>
          <a:prstGeom prst="rect">
            <a:avLst/>
          </a:prstGeom>
        </p:spPr>
      </p:pic>
      <p:pic>
        <p:nvPicPr>
          <p:cNvPr id="7" name="Picture 6">
            <a:extLst>
              <a:ext uri="{FF2B5EF4-FFF2-40B4-BE49-F238E27FC236}">
                <a16:creationId xmlns:a16="http://schemas.microsoft.com/office/drawing/2014/main" id="{9CA19395-7061-AEFB-201A-BF16B05D81CE}"/>
              </a:ext>
            </a:extLst>
          </p:cNvPr>
          <p:cNvPicPr>
            <a:picLocks noChangeAspect="1"/>
          </p:cNvPicPr>
          <p:nvPr/>
        </p:nvPicPr>
        <p:blipFill>
          <a:blip r:embed="rId4"/>
          <a:stretch>
            <a:fillRect/>
          </a:stretch>
        </p:blipFill>
        <p:spPr>
          <a:xfrm>
            <a:off x="3067698" y="2915399"/>
            <a:ext cx="2010662" cy="1515575"/>
          </a:xfrm>
          <a:prstGeom prst="rect">
            <a:avLst/>
          </a:prstGeom>
        </p:spPr>
      </p:pic>
      <p:pic>
        <p:nvPicPr>
          <p:cNvPr id="9" name="Picture 8">
            <a:extLst>
              <a:ext uri="{FF2B5EF4-FFF2-40B4-BE49-F238E27FC236}">
                <a16:creationId xmlns:a16="http://schemas.microsoft.com/office/drawing/2014/main" id="{261BC7BD-2D67-AB16-C678-5C5EBA95526F}"/>
              </a:ext>
            </a:extLst>
          </p:cNvPr>
          <p:cNvPicPr>
            <a:picLocks noChangeAspect="1"/>
          </p:cNvPicPr>
          <p:nvPr/>
        </p:nvPicPr>
        <p:blipFill>
          <a:blip r:embed="rId5"/>
          <a:stretch>
            <a:fillRect/>
          </a:stretch>
        </p:blipFill>
        <p:spPr>
          <a:xfrm>
            <a:off x="5454798" y="2915399"/>
            <a:ext cx="1584245" cy="1584245"/>
          </a:xfrm>
          <a:prstGeom prst="rect">
            <a:avLst/>
          </a:prstGeom>
        </p:spPr>
      </p:pic>
      <p:pic>
        <p:nvPicPr>
          <p:cNvPr id="11" name="Picture 10">
            <a:extLst>
              <a:ext uri="{FF2B5EF4-FFF2-40B4-BE49-F238E27FC236}">
                <a16:creationId xmlns:a16="http://schemas.microsoft.com/office/drawing/2014/main" id="{A9FADEEC-9009-5DFB-D6B2-75EA2EE0A7A1}"/>
              </a:ext>
            </a:extLst>
          </p:cNvPr>
          <p:cNvPicPr>
            <a:picLocks noChangeAspect="1"/>
          </p:cNvPicPr>
          <p:nvPr/>
        </p:nvPicPr>
        <p:blipFill>
          <a:blip r:embed="rId6"/>
          <a:stretch>
            <a:fillRect/>
          </a:stretch>
        </p:blipFill>
        <p:spPr>
          <a:xfrm>
            <a:off x="9122611" y="2907809"/>
            <a:ext cx="1559935" cy="1584245"/>
          </a:xfrm>
          <a:prstGeom prst="rect">
            <a:avLst/>
          </a:prstGeom>
        </p:spPr>
      </p:pic>
      <p:pic>
        <p:nvPicPr>
          <p:cNvPr id="13" name="Graphic 12" descr="Arrow Right with solid fill">
            <a:extLst>
              <a:ext uri="{FF2B5EF4-FFF2-40B4-BE49-F238E27FC236}">
                <a16:creationId xmlns:a16="http://schemas.microsoft.com/office/drawing/2014/main" id="{942A33ED-AEB1-5440-F9BA-ABA0F4A116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46483" y="3412066"/>
            <a:ext cx="457200" cy="677333"/>
          </a:xfrm>
          <a:prstGeom prst="rect">
            <a:avLst/>
          </a:prstGeom>
        </p:spPr>
      </p:pic>
      <p:pic>
        <p:nvPicPr>
          <p:cNvPr id="14" name="Graphic 13" descr="Arrow Right with solid fill">
            <a:extLst>
              <a:ext uri="{FF2B5EF4-FFF2-40B4-BE49-F238E27FC236}">
                <a16:creationId xmlns:a16="http://schemas.microsoft.com/office/drawing/2014/main" id="{F6FB40F7-6F85-0281-1E3C-AF8C254CA4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33583" y="3368853"/>
            <a:ext cx="457200" cy="677333"/>
          </a:xfrm>
          <a:prstGeom prst="rect">
            <a:avLst/>
          </a:prstGeom>
        </p:spPr>
      </p:pic>
      <p:pic>
        <p:nvPicPr>
          <p:cNvPr id="15" name="Graphic 14" descr="Arrow Right with solid fill">
            <a:extLst>
              <a:ext uri="{FF2B5EF4-FFF2-40B4-BE49-F238E27FC236}">
                <a16:creationId xmlns:a16="http://schemas.microsoft.com/office/drawing/2014/main" id="{8A011F9A-606B-9BFE-DA9B-D3E41FB46E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3058" y="3334519"/>
            <a:ext cx="457200" cy="677333"/>
          </a:xfrm>
          <a:prstGeom prst="rect">
            <a:avLst/>
          </a:prstGeom>
        </p:spPr>
      </p:pic>
      <p:pic>
        <p:nvPicPr>
          <p:cNvPr id="16" name="Graphic 15" descr="Arrow Right with solid fill">
            <a:extLst>
              <a:ext uri="{FF2B5EF4-FFF2-40B4-BE49-F238E27FC236}">
                <a16:creationId xmlns:a16="http://schemas.microsoft.com/office/drawing/2014/main" id="{F4D30E5C-8CC8-F9A7-3F9A-E81731B2D0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65411" y="3361266"/>
            <a:ext cx="457200" cy="677333"/>
          </a:xfrm>
          <a:prstGeom prst="rect">
            <a:avLst/>
          </a:prstGeom>
        </p:spPr>
      </p:pic>
      <p:sp>
        <p:nvSpPr>
          <p:cNvPr id="19" name="Flowchart: Connector 18">
            <a:extLst>
              <a:ext uri="{FF2B5EF4-FFF2-40B4-BE49-F238E27FC236}">
                <a16:creationId xmlns:a16="http://schemas.microsoft.com/office/drawing/2014/main" id="{1180F2C4-82FA-4364-4B33-003805B245D6}"/>
              </a:ext>
            </a:extLst>
          </p:cNvPr>
          <p:cNvSpPr/>
          <p:nvPr/>
        </p:nvSpPr>
        <p:spPr>
          <a:xfrm>
            <a:off x="7803306" y="3699934"/>
            <a:ext cx="128765" cy="135466"/>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20" name="Flowchart: Connector 19">
            <a:extLst>
              <a:ext uri="{FF2B5EF4-FFF2-40B4-BE49-F238E27FC236}">
                <a16:creationId xmlns:a16="http://schemas.microsoft.com/office/drawing/2014/main" id="{0677E207-4E4E-FC2F-D2CE-2C894131A07C}"/>
              </a:ext>
            </a:extLst>
          </p:cNvPr>
          <p:cNvSpPr/>
          <p:nvPr/>
        </p:nvSpPr>
        <p:spPr>
          <a:xfrm>
            <a:off x="8089622" y="3699934"/>
            <a:ext cx="128765" cy="135466"/>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21" name="Flowchart: Connector 20">
            <a:extLst>
              <a:ext uri="{FF2B5EF4-FFF2-40B4-BE49-F238E27FC236}">
                <a16:creationId xmlns:a16="http://schemas.microsoft.com/office/drawing/2014/main" id="{0280D2A1-5476-2B36-D78C-DA822DBD7CEE}"/>
              </a:ext>
            </a:extLst>
          </p:cNvPr>
          <p:cNvSpPr/>
          <p:nvPr/>
        </p:nvSpPr>
        <p:spPr>
          <a:xfrm>
            <a:off x="8343916" y="3699933"/>
            <a:ext cx="128765" cy="135466"/>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22" name="Graphic 21" descr="Arrow Right with solid fill">
            <a:extLst>
              <a:ext uri="{FF2B5EF4-FFF2-40B4-BE49-F238E27FC236}">
                <a16:creationId xmlns:a16="http://schemas.microsoft.com/office/drawing/2014/main" id="{816CBF31-296F-6C42-B2A9-0CACA1E021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82546" y="3395132"/>
            <a:ext cx="457200" cy="677333"/>
          </a:xfrm>
          <a:prstGeom prst="rect">
            <a:avLst/>
          </a:prstGeom>
        </p:spPr>
      </p:pic>
      <p:pic>
        <p:nvPicPr>
          <p:cNvPr id="23" name="Graphic 22" descr="Arrow Right with solid fill">
            <a:extLst>
              <a:ext uri="{FF2B5EF4-FFF2-40B4-BE49-F238E27FC236}">
                <a16:creationId xmlns:a16="http://schemas.microsoft.com/office/drawing/2014/main" id="{B5C6C1D0-943D-584E-0E5F-5D7460D43C9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800" y="4461230"/>
            <a:ext cx="381000" cy="564444"/>
          </a:xfrm>
          <a:prstGeom prst="rect">
            <a:avLst/>
          </a:prstGeom>
        </p:spPr>
      </p:pic>
    </p:spTree>
    <p:extLst>
      <p:ext uri="{BB962C8B-B14F-4D97-AF65-F5344CB8AC3E}">
        <p14:creationId xmlns:p14="http://schemas.microsoft.com/office/powerpoint/2010/main" val="430821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B0E19-7B58-B327-6D94-9DDA360E401D}"/>
              </a:ext>
            </a:extLst>
          </p:cNvPr>
          <p:cNvSpPr>
            <a:spLocks noGrp="1"/>
          </p:cNvSpPr>
          <p:nvPr>
            <p:ph type="ctrTitle"/>
          </p:nvPr>
        </p:nvSpPr>
        <p:spPr>
          <a:xfrm>
            <a:off x="3860800" y="1007534"/>
            <a:ext cx="7747000" cy="812800"/>
          </a:xfrm>
        </p:spPr>
        <p:txBody>
          <a:bodyPr>
            <a:normAutofit fontScale="90000"/>
          </a:bodyPr>
          <a:lstStyle/>
          <a:p>
            <a:r>
              <a:rPr lang="en-GB" sz="4000" dirty="0"/>
              <a:t>			Similarity analysis </a:t>
            </a:r>
          </a:p>
        </p:txBody>
      </p:sp>
      <p:sp>
        <p:nvSpPr>
          <p:cNvPr id="3" name="Content Placeholder 2">
            <a:extLst>
              <a:ext uri="{FF2B5EF4-FFF2-40B4-BE49-F238E27FC236}">
                <a16:creationId xmlns:a16="http://schemas.microsoft.com/office/drawing/2014/main" id="{3478ABCF-FE3D-73ED-0A6B-4E12DAF57443}"/>
              </a:ext>
            </a:extLst>
          </p:cNvPr>
          <p:cNvSpPr>
            <a:spLocks noGrp="1"/>
          </p:cNvSpPr>
          <p:nvPr>
            <p:ph type="subTitle" idx="1"/>
          </p:nvPr>
        </p:nvSpPr>
        <p:spPr>
          <a:xfrm>
            <a:off x="1371600" y="2082800"/>
            <a:ext cx="9448800" cy="2700867"/>
          </a:xfrm>
        </p:spPr>
        <p:txBody>
          <a:bodyPr>
            <a:noAutofit/>
          </a:bodyPr>
          <a:lstStyle/>
          <a:p>
            <a:pPr marL="285750" indent="-285750">
              <a:buFont typeface="Arial" panose="020B0604020202020204" pitchFamily="34" charset="0"/>
              <a:buChar char="•"/>
            </a:pPr>
            <a:r>
              <a:rPr lang="en-GB" sz="1600" dirty="0"/>
              <a:t>Each logo image is compared against all others, and those with a hash difference below a defined threshold (18) are grouped together.</a:t>
            </a:r>
          </a:p>
          <a:p>
            <a:pPr marL="285750" indent="-285750">
              <a:buFont typeface="Arial" panose="020B0604020202020204" pitchFamily="34" charset="0"/>
              <a:buChar char="•"/>
            </a:pPr>
            <a:r>
              <a:rPr lang="en-GB" sz="1600" dirty="0"/>
              <a:t>Groups of visually similar logos are saved in grouped_links.csv, with each group containing URLs of logos considered similar.</a:t>
            </a:r>
          </a:p>
          <a:p>
            <a:pPr marL="285750" indent="-285750">
              <a:buFont typeface="Arial" panose="020B0604020202020204" pitchFamily="34" charset="0"/>
              <a:buChar char="•"/>
            </a:pPr>
            <a:r>
              <a:rPr lang="en-GB" sz="1600" dirty="0"/>
              <a:t>Logos that do not match any other are treated as unique and stored separately in </a:t>
            </a:r>
            <a:r>
              <a:rPr lang="en-GB" sz="1600" dirty="0" err="1"/>
              <a:t>Unique_Groups</a:t>
            </a:r>
            <a:r>
              <a:rPr lang="en-GB" sz="1600" dirty="0"/>
              <a:t>.</a:t>
            </a:r>
          </a:p>
          <a:p>
            <a:pPr marL="285750" indent="-285750">
              <a:buFont typeface="Arial" panose="020B0604020202020204" pitchFamily="34" charset="0"/>
              <a:buChar char="•"/>
            </a:pPr>
            <a:r>
              <a:rPr lang="en-GB" sz="1600" dirty="0"/>
              <a:t>For each group, the corresponding image files are copied from the logos folder into dedicated group folders in </a:t>
            </a:r>
            <a:r>
              <a:rPr lang="en-GB" sz="1600" dirty="0" err="1"/>
              <a:t>grouped_logos</a:t>
            </a:r>
            <a:r>
              <a:rPr lang="en-GB" sz="1600" dirty="0"/>
              <a:t>, facilitating visual inspection.</a:t>
            </a:r>
          </a:p>
          <a:p>
            <a:pPr marL="285750" indent="-285750">
              <a:buFont typeface="Arial" panose="020B0604020202020204" pitchFamily="34" charset="0"/>
              <a:buChar char="•"/>
            </a:pPr>
            <a:r>
              <a:rPr lang="en-GB" sz="1600" dirty="0"/>
              <a:t>517 groups of visually similar logos were identified, of which 183 were unique.</a:t>
            </a:r>
          </a:p>
        </p:txBody>
      </p:sp>
    </p:spTree>
    <p:extLst>
      <p:ext uri="{BB962C8B-B14F-4D97-AF65-F5344CB8AC3E}">
        <p14:creationId xmlns:p14="http://schemas.microsoft.com/office/powerpoint/2010/main" val="2294354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2E522-E318-DAFE-C0D3-A1F11CC3E1C3}"/>
              </a:ext>
            </a:extLst>
          </p:cNvPr>
          <p:cNvSpPr>
            <a:spLocks noGrp="1"/>
          </p:cNvSpPr>
          <p:nvPr>
            <p:ph type="title"/>
          </p:nvPr>
        </p:nvSpPr>
        <p:spPr/>
        <p:txBody>
          <a:bodyPr/>
          <a:lstStyle/>
          <a:p>
            <a:r>
              <a:rPr lang="en-GB" dirty="0"/>
              <a:t>Results &amp; Conclusions</a:t>
            </a:r>
          </a:p>
        </p:txBody>
      </p:sp>
      <p:sp>
        <p:nvSpPr>
          <p:cNvPr id="3" name="Content Placeholder 2">
            <a:extLst>
              <a:ext uri="{FF2B5EF4-FFF2-40B4-BE49-F238E27FC236}">
                <a16:creationId xmlns:a16="http://schemas.microsoft.com/office/drawing/2014/main" id="{036BEA28-971B-4BC0-30CB-FF9156392ED1}"/>
              </a:ext>
            </a:extLst>
          </p:cNvPr>
          <p:cNvSpPr>
            <a:spLocks noGrp="1"/>
          </p:cNvSpPr>
          <p:nvPr>
            <p:ph idx="1"/>
          </p:nvPr>
        </p:nvSpPr>
        <p:spPr/>
        <p:txBody>
          <a:bodyPr>
            <a:normAutofit lnSpcReduction="10000"/>
          </a:bodyPr>
          <a:lstStyle/>
          <a:p>
            <a:r>
              <a:rPr lang="en-GB" sz="1600" dirty="0"/>
              <a:t>After careful analysis, several logos with the same visual symbol but different names were identified, providing useful insights for potential fraud detection or brand misuse.</a:t>
            </a:r>
          </a:p>
          <a:p>
            <a:pPr marL="0" indent="0">
              <a:buNone/>
            </a:pPr>
            <a:endParaRPr lang="en-GB" dirty="0"/>
          </a:p>
          <a:p>
            <a:pPr marL="0" indent="0">
              <a:buNone/>
            </a:pPr>
            <a:endParaRPr lang="en-GB" dirty="0"/>
          </a:p>
          <a:p>
            <a:pPr marL="0" indent="0">
              <a:buNone/>
            </a:pPr>
            <a:endParaRPr lang="en-GB" sz="1600" dirty="0"/>
          </a:p>
          <a:p>
            <a:endParaRPr lang="en-GB" sz="1600" dirty="0"/>
          </a:p>
          <a:p>
            <a:r>
              <a:rPr lang="en-GB" sz="1600" dirty="0"/>
              <a:t>The workflow successfully extracted and grouped logos, meeting the requirement of over 97% coverage. Using automated extraction, preprocessing, and perceptual hashing, visually similar logos were efficiently clustered without ML algorithms. Unique logos and logos with identical symbols but different names were identified, providing insights for potential brand inconsistencies or anomalies.</a:t>
            </a:r>
          </a:p>
          <a:p>
            <a:r>
              <a:rPr lang="en-GB" sz="1600" dirty="0"/>
              <a:t>Future improvements could include handling error links such as 403 responses using retries, proxies, or session management, applying machine learning to ensure that extracted images are actual logos, exploring advanced similarity metrics for more accurate clustering, and automating parts of the manual review process to reduce false positives and improve efficiency.</a:t>
            </a:r>
          </a:p>
        </p:txBody>
      </p:sp>
      <p:pic>
        <p:nvPicPr>
          <p:cNvPr id="5" name="Picture 4">
            <a:extLst>
              <a:ext uri="{FF2B5EF4-FFF2-40B4-BE49-F238E27FC236}">
                <a16:creationId xmlns:a16="http://schemas.microsoft.com/office/drawing/2014/main" id="{DD7B337B-8E93-D783-16C2-25814961DD3D}"/>
              </a:ext>
            </a:extLst>
          </p:cNvPr>
          <p:cNvPicPr>
            <a:picLocks noChangeAspect="1"/>
          </p:cNvPicPr>
          <p:nvPr/>
        </p:nvPicPr>
        <p:blipFill>
          <a:blip r:embed="rId2"/>
          <a:stretch>
            <a:fillRect/>
          </a:stretch>
        </p:blipFill>
        <p:spPr>
          <a:xfrm>
            <a:off x="763341" y="2668217"/>
            <a:ext cx="4290432" cy="1165961"/>
          </a:xfrm>
          <a:prstGeom prst="rect">
            <a:avLst/>
          </a:prstGeom>
        </p:spPr>
      </p:pic>
      <p:pic>
        <p:nvPicPr>
          <p:cNvPr id="7" name="Picture 6">
            <a:extLst>
              <a:ext uri="{FF2B5EF4-FFF2-40B4-BE49-F238E27FC236}">
                <a16:creationId xmlns:a16="http://schemas.microsoft.com/office/drawing/2014/main" id="{A9C06AE0-E261-8F59-E039-FC0DC0BEE931}"/>
              </a:ext>
            </a:extLst>
          </p:cNvPr>
          <p:cNvPicPr>
            <a:picLocks noChangeAspect="1"/>
          </p:cNvPicPr>
          <p:nvPr/>
        </p:nvPicPr>
        <p:blipFill>
          <a:blip r:embed="rId3"/>
          <a:stretch>
            <a:fillRect/>
          </a:stretch>
        </p:blipFill>
        <p:spPr>
          <a:xfrm>
            <a:off x="5131314" y="2668217"/>
            <a:ext cx="6591871" cy="1386960"/>
          </a:xfrm>
          <a:prstGeom prst="rect">
            <a:avLst/>
          </a:prstGeom>
        </p:spPr>
      </p:pic>
    </p:spTree>
    <p:extLst>
      <p:ext uri="{BB962C8B-B14F-4D97-AF65-F5344CB8AC3E}">
        <p14:creationId xmlns:p14="http://schemas.microsoft.com/office/powerpoint/2010/main" val="394132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1F47B-0531-2E1A-A7B6-B46650DF88A8}"/>
              </a:ext>
            </a:extLst>
          </p:cNvPr>
          <p:cNvSpPr>
            <a:spLocks noGrp="1"/>
          </p:cNvSpPr>
          <p:nvPr>
            <p:ph type="title"/>
          </p:nvPr>
        </p:nvSpPr>
        <p:spPr>
          <a:xfrm>
            <a:off x="685800" y="753534"/>
            <a:ext cx="3674533" cy="787400"/>
          </a:xfrm>
        </p:spPr>
        <p:txBody>
          <a:bodyPr/>
          <a:lstStyle/>
          <a:p>
            <a:r>
              <a:rPr lang="en-GB" dirty="0"/>
              <a:t>References</a:t>
            </a:r>
          </a:p>
        </p:txBody>
      </p:sp>
      <p:sp>
        <p:nvSpPr>
          <p:cNvPr id="3" name="Text Placeholder 2">
            <a:extLst>
              <a:ext uri="{FF2B5EF4-FFF2-40B4-BE49-F238E27FC236}">
                <a16:creationId xmlns:a16="http://schemas.microsoft.com/office/drawing/2014/main" id="{3A886F6E-A622-0CFB-B455-D7ABA2C6659D}"/>
              </a:ext>
            </a:extLst>
          </p:cNvPr>
          <p:cNvSpPr>
            <a:spLocks noGrp="1"/>
          </p:cNvSpPr>
          <p:nvPr>
            <p:ph type="body" idx="1"/>
          </p:nvPr>
        </p:nvSpPr>
        <p:spPr>
          <a:xfrm>
            <a:off x="1024467" y="1540935"/>
            <a:ext cx="10490200" cy="3056466"/>
          </a:xfrm>
        </p:spPr>
        <p:txBody>
          <a:bodyPr>
            <a:normAutofit/>
          </a:bodyPr>
          <a:lstStyle/>
          <a:p>
            <a:pPr algn="l"/>
            <a:endParaRPr lang="en-GB" sz="1600" dirty="0">
              <a:solidFill>
                <a:schemeClr val="tx1"/>
              </a:solidFill>
            </a:endParaRPr>
          </a:p>
          <a:p>
            <a:pPr marL="342900" indent="-342900" algn="l">
              <a:buFont typeface="Arial" panose="020B0604020202020204" pitchFamily="34" charset="0"/>
              <a:buChar char="•"/>
            </a:pPr>
            <a:r>
              <a:rPr lang="en-GB" sz="1600" dirty="0">
                <a:solidFill>
                  <a:schemeClr val="tx1"/>
                </a:solidFill>
              </a:rPr>
              <a:t>Image hashing &amp; </a:t>
            </a:r>
            <a:r>
              <a:rPr lang="en-GB" sz="1600" dirty="0" err="1">
                <a:solidFill>
                  <a:schemeClr val="tx1"/>
                </a:solidFill>
              </a:rPr>
              <a:t>pHash</a:t>
            </a:r>
            <a:r>
              <a:rPr lang="en-GB" sz="1600" dirty="0">
                <a:solidFill>
                  <a:schemeClr val="tx1"/>
                </a:solidFill>
              </a:rPr>
              <a:t> algorithm - </a:t>
            </a:r>
            <a:r>
              <a:rPr lang="en-GB" sz="1600" dirty="0">
                <a:solidFill>
                  <a:schemeClr val="tx1"/>
                </a:solidFill>
                <a:hlinkClick r:id="rId2"/>
              </a:rPr>
              <a:t>Zauner, Christoph. Implementation and Benchmarking of Perceptual Image Hash Functions. 2010.</a:t>
            </a:r>
            <a:endParaRPr lang="en-GB" sz="1600" dirty="0">
              <a:solidFill>
                <a:schemeClr val="tx1"/>
              </a:solidFill>
            </a:endParaRPr>
          </a:p>
          <a:p>
            <a:pPr marL="342900" indent="-342900" algn="l">
              <a:buFont typeface="Arial" panose="020B0604020202020204" pitchFamily="34" charset="0"/>
              <a:buChar char="•"/>
            </a:pPr>
            <a:r>
              <a:rPr lang="en-GB" sz="1600" dirty="0" err="1">
                <a:solidFill>
                  <a:schemeClr val="tx1"/>
                </a:solidFill>
              </a:rPr>
              <a:t>BeautifulSoup</a:t>
            </a:r>
            <a:r>
              <a:rPr lang="en-GB" sz="1600" dirty="0">
                <a:solidFill>
                  <a:schemeClr val="tx1"/>
                </a:solidFill>
              </a:rPr>
              <a:t> – Web scraping library - </a:t>
            </a:r>
            <a:r>
              <a:rPr lang="en-GB" sz="1600" dirty="0">
                <a:solidFill>
                  <a:schemeClr val="tx1"/>
                </a:solidFill>
                <a:hlinkClick r:id="rId3"/>
              </a:rPr>
              <a:t>https://www.geeksforgeeks.org/python/beautifulsoup-scraping-link-from-html/</a:t>
            </a:r>
            <a:endParaRPr lang="en-GB" sz="1600" dirty="0">
              <a:solidFill>
                <a:schemeClr val="tx1"/>
              </a:solidFill>
            </a:endParaRPr>
          </a:p>
          <a:p>
            <a:pPr marL="342900" indent="-342900" algn="l">
              <a:buFont typeface="Arial" panose="020B0604020202020204" pitchFamily="34" charset="0"/>
              <a:buChar char="•"/>
            </a:pPr>
            <a:r>
              <a:rPr lang="en-GB" sz="1600" dirty="0">
                <a:solidFill>
                  <a:schemeClr val="tx1"/>
                </a:solidFill>
              </a:rPr>
              <a:t>Logo Extraction - </a:t>
            </a:r>
            <a:r>
              <a:rPr lang="en-GB" sz="1600" dirty="0">
                <a:solidFill>
                  <a:schemeClr val="tx1"/>
                </a:solidFill>
                <a:hlinkClick r:id="rId4"/>
              </a:rPr>
              <a:t>https://www.brand.dev/blog/a-developers-guide-to-scraping-logos-from-websites</a:t>
            </a:r>
            <a:endParaRPr lang="en-GB" sz="1600" dirty="0">
              <a:solidFill>
                <a:schemeClr val="tx1"/>
              </a:solidFill>
            </a:endParaRPr>
          </a:p>
          <a:p>
            <a:pPr marL="342900" indent="-342900" algn="l">
              <a:buFont typeface="Arial" panose="020B0604020202020204" pitchFamily="34" charset="0"/>
              <a:buChar char="•"/>
            </a:pPr>
            <a:r>
              <a:rPr lang="en-GB" sz="1600" dirty="0">
                <a:solidFill>
                  <a:schemeClr val="tx1"/>
                </a:solidFill>
              </a:rPr>
              <a:t>SVG to PNG - </a:t>
            </a:r>
            <a:r>
              <a:rPr lang="en-GB" sz="1600" dirty="0">
                <a:solidFill>
                  <a:schemeClr val="tx1"/>
                </a:solidFill>
                <a:hlinkClick r:id="rId5"/>
              </a:rPr>
              <a:t>https://blog.devgenius.io/svg-to-png-from-vector-to-pixel-perfect-f4d496b9ad6d</a:t>
            </a:r>
            <a:endParaRPr lang="en-GB" sz="1600" dirty="0">
              <a:solidFill>
                <a:schemeClr val="tx1"/>
              </a:solidFill>
            </a:endParaRPr>
          </a:p>
          <a:p>
            <a:pPr marL="342900" indent="-342900" algn="l">
              <a:buFont typeface="Arial" panose="020B0604020202020204" pitchFamily="34" charset="0"/>
              <a:buChar char="•"/>
            </a:pPr>
            <a:r>
              <a:rPr lang="en-GB" sz="1600" dirty="0">
                <a:solidFill>
                  <a:schemeClr val="tx1"/>
                </a:solidFill>
              </a:rPr>
              <a:t>Certain clarifications and text formulations were supported using AI-assisted tools (ChatGPT)</a:t>
            </a:r>
          </a:p>
        </p:txBody>
      </p:sp>
    </p:spTree>
    <p:extLst>
      <p:ext uri="{BB962C8B-B14F-4D97-AF65-F5344CB8AC3E}">
        <p14:creationId xmlns:p14="http://schemas.microsoft.com/office/powerpoint/2010/main" val="361839940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1443</TotalTime>
  <Words>1032</Words>
  <Application>Microsoft Office PowerPoint</Application>
  <PresentationFormat>Widescreen</PresentationFormat>
  <Paragraphs>71</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Century Gothic</vt:lpstr>
      <vt:lpstr>Vapor Trail</vt:lpstr>
      <vt:lpstr>Logo similarity</vt:lpstr>
      <vt:lpstr>Understanding the Problem</vt:lpstr>
      <vt:lpstr>First Approach </vt:lpstr>
      <vt:lpstr>Chosen Approach</vt:lpstr>
      <vt:lpstr>Technical Workflow</vt:lpstr>
      <vt:lpstr>Web Scraping &amp; Logo Extraction</vt:lpstr>
      <vt:lpstr>Preprocessing &amp; Analysis</vt:lpstr>
      <vt:lpstr>Similarity analysis </vt:lpstr>
      <vt:lpstr>   Similarity analysis </vt:lpstr>
      <vt:lpstr>Results &amp; 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Miruna-Ioana STĂNESCU (132982)</dc:creator>
  <cp:lastModifiedBy>Miruna-Ioana STĂNESCU (132982)</cp:lastModifiedBy>
  <cp:revision>2</cp:revision>
  <dcterms:created xsi:type="dcterms:W3CDTF">2025-11-14T13:50:35Z</dcterms:created>
  <dcterms:modified xsi:type="dcterms:W3CDTF">2025-11-15T13:54:26Z</dcterms:modified>
</cp:coreProperties>
</file>